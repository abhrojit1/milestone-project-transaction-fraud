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A6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A3A6B"/>
                </a:solidFill>
                <a:latin typeface="Arial"/>
              </a:rPr>
              <a:t>Accuracy per Epoch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ln w="38100" cap="flat">
              <a:solidFill>
                <a:srgbClr val="0EA5E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Ep 1</c:v>
                </c:pt>
                <c:pt idx="1">
                  <c:v>Ep 2</c:v>
                </c:pt>
                <c:pt idx="2">
                  <c:v>Ep 3</c:v>
                </c:pt>
                <c:pt idx="3">
                  <c:v>Ep 4</c:v>
                </c:pt>
                <c:pt idx="4">
                  <c:v>Ep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91.2</c:v>
                </c:pt>
                <c:pt idx="1">
                  <c:v>93.9</c:v>
                </c:pt>
                <c:pt idx="2">
                  <c:v>95.1</c:v>
                </c:pt>
                <c:pt idx="3">
                  <c:v>96</c:v>
                </c:pt>
                <c:pt idx="4">
                  <c:v>96.5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887-4BB3-967A-6D116B2CE7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</c:v>
                </c:pt>
              </c:strCache>
            </c:strRef>
          </c:tx>
          <c:spPr>
            <a:ln w="38100" cap="flat">
              <a:solidFill>
                <a:srgbClr val="E8454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4545"/>
              </a:solidFill>
              <a:ln w="9525" cap="flat">
                <a:solidFill>
                  <a:srgbClr val="E8454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Ep 1</c:v>
                </c:pt>
                <c:pt idx="1">
                  <c:v>Ep 2</c:v>
                </c:pt>
                <c:pt idx="2">
                  <c:v>Ep 3</c:v>
                </c:pt>
                <c:pt idx="3">
                  <c:v>Ep 4</c:v>
                </c:pt>
                <c:pt idx="4">
                  <c:v>Ep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93.4</c:v>
                </c:pt>
                <c:pt idx="1">
                  <c:v>94.9</c:v>
                </c:pt>
                <c:pt idx="2">
                  <c:v>95.5</c:v>
                </c:pt>
                <c:pt idx="3">
                  <c:v>95.9</c:v>
                </c:pt>
                <c:pt idx="4">
                  <c:v>96.2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887-4BB3-967A-6D116B2CE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E0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6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3A6B"/>
                </a:solidFill>
                <a:latin typeface="Arial"/>
              </a:rPr>
              <a:t>Fraud Rate by Transaction Type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E84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ATM</c:v>
                </c:pt>
                <c:pt idx="1">
                  <c:v>Online</c:v>
                </c:pt>
                <c:pt idx="2">
                  <c:v>QR</c:v>
                </c:pt>
                <c:pt idx="3">
                  <c:v>POS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5.5</c:v>
                </c:pt>
                <c:pt idx="1">
                  <c:v>5.3</c:v>
                </c:pt>
                <c:pt idx="2">
                  <c:v>4.8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E3-4189-BD11-A56D13E06A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BF0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6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3A6B"/>
                </a:solidFill>
                <a:latin typeface="Arial"/>
              </a:rPr>
              <a:t>Fraud Rate by Merchant Category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%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Clothing</c:v>
                </c:pt>
                <c:pt idx="1">
                  <c:v>Travel</c:v>
                </c:pt>
                <c:pt idx="2">
                  <c:v>Electronics</c:v>
                </c:pt>
                <c:pt idx="3">
                  <c:v>Grocery</c:v>
                </c:pt>
                <c:pt idx="4">
                  <c:v>Food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5.5</c:v>
                </c:pt>
                <c:pt idx="1">
                  <c:v>5.3</c:v>
                </c:pt>
                <c:pt idx="2">
                  <c:v>4.9000000000000004</c:v>
                </c:pt>
                <c:pt idx="3">
                  <c:v>4.8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F2-489E-96A2-A4667AF667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0D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BF0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6B"/>
                </a:solidFill>
                <a:latin typeface="Arial"/>
              </a:defRPr>
            </a:pPr>
            <a:r>
              <a:rPr lang="sv-SE" sz="1100" b="0" i="0" u="none" strike="noStrike">
                <a:solidFill>
                  <a:srgbClr val="1A3A6B"/>
                </a:solidFill>
                <a:latin typeface="Arial"/>
              </a:rPr>
              <a:t>Avg Risk Scores: Legit vs Fraud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Legitimate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Device Risk</c:v>
                </c:pt>
                <c:pt idx="1">
                  <c:v>IP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0.14799999999999999</c:v>
                </c:pt>
                <c:pt idx="1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D1-4B3F-96CB-40D44ED17D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Fraud</c:v>
                </c:pt>
              </c:strCache>
            </c:strRef>
          </c:tx>
          <c:spPr>
            <a:solidFill>
              <a:srgbClr val="E84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Device Risk</c:v>
                </c:pt>
                <c:pt idx="1">
                  <c:v>IP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0.85799999999999998</c:v>
                </c:pt>
                <c:pt idx="1">
                  <c:v>0.85199999999999998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D1-4B3F-96CB-40D44ED17D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EBF0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6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3A6B"/>
                </a:solidFill>
                <a:latin typeface="Arial"/>
              </a:rPr>
              <a:t>Median Transaction Amount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Amount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Legitimate</c:v>
                </c:pt>
                <c:pt idx="1">
                  <c:v>Fraud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100.29</c:v>
                </c:pt>
                <c:pt idx="1">
                  <c:v>1220.56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17-4011-8E14-85A2FAEC0D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BF0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6554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82296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502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28600" y="9144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FraudSense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28600" y="1965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EA5E9"/>
                </a:solidFill>
              </a:rPr>
              <a:t>BERT-Powered Transaction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EA5E9"/>
                </a:solidFill>
              </a:rPr>
              <a:t>Fraud Detection System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28600" y="3017520"/>
            <a:ext cx="2286000" cy="36576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60720" y="3657600"/>
            <a:ext cx="1463040" cy="365760"/>
          </a:xfrm>
          <a:prstGeom prst="rect">
            <a:avLst/>
          </a:prstGeom>
          <a:solidFill>
            <a:srgbClr val="1E2D4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DistilBERT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06640" y="3657600"/>
            <a:ext cx="1463040" cy="365760"/>
          </a:xfrm>
          <a:prstGeom prst="rect">
            <a:avLst/>
          </a:prstGeom>
          <a:solidFill>
            <a:srgbClr val="1E2D4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PyTorch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60720" y="4160520"/>
            <a:ext cx="1463040" cy="365760"/>
          </a:xfrm>
          <a:prstGeom prst="rect">
            <a:avLst/>
          </a:prstGeom>
          <a:solidFill>
            <a:srgbClr val="1E2D4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Flask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06640" y="4160520"/>
            <a:ext cx="1463040" cy="365760"/>
          </a:xfrm>
          <a:prstGeom prst="rect">
            <a:avLst/>
          </a:prstGeom>
          <a:solidFill>
            <a:srgbClr val="1E2D4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Python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160520" cy="105156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73152" cy="1051560"/>
          </a:xfrm>
          <a:prstGeom prst="rect">
            <a:avLst/>
          </a:prstGeom>
          <a:solidFill>
            <a:srgbClr val="E84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Why fraud detection matters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60520" cy="105156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73152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61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Dataset Overview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10,000 transactions · 7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160520" cy="105156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86000"/>
            <a:ext cx="73152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957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Methodology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035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BERT · Feature serialisation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160520" cy="105156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86000"/>
            <a:ext cx="73152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957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00600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System Architecture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3035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Training pipeline · Web app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520440"/>
            <a:ext cx="4160520" cy="105156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520440"/>
            <a:ext cx="73152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30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576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Results &amp; Analysis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4270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Accuracy · Confusion matrix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520440"/>
            <a:ext cx="4160520" cy="105156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520440"/>
            <a:ext cx="73152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30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0060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Demo &amp; Conclusion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4270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Live app · Future scope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417320"/>
          </a:xfrm>
          <a:prstGeom prst="rect">
            <a:avLst/>
          </a:prstGeom>
          <a:solidFill>
            <a:srgbClr val="131B2E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54864"/>
          </a:xfrm>
          <a:prstGeom prst="rect">
            <a:avLst/>
          </a:prstGeom>
          <a:solidFill>
            <a:srgbClr val="E84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$485B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2860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</a:rPr>
              <a:t>Lost to fraud globally per year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1005840"/>
            <a:ext cx="2743200" cy="1417320"/>
          </a:xfrm>
          <a:prstGeom prst="rect">
            <a:avLst/>
          </a:prstGeom>
          <a:solidFill>
            <a:srgbClr val="131B2E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10058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1143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172968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</a:rPr>
              <a:t>Fraud rate in our dataset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17336" y="1005840"/>
            <a:ext cx="2743200" cy="1417320"/>
          </a:xfrm>
          <a:prstGeom prst="rect">
            <a:avLst/>
          </a:prstGeom>
          <a:solidFill>
            <a:srgbClr val="131B2E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17336" y="100584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143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117336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</a:rPr>
              <a:t>Transactions analysed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</a:rPr>
              <a:t>Why Rule-Based Systems Fail</a:t>
            </a:r>
            <a:endParaRPr lang="en-US" sz="16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127248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Rigid thresholds easily bypassed by attackers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51129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Cannot learn from new fraud patterns automatically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895344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8640" y="3858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High false positive rates block legitimate customers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279392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" y="4242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Expensive manual maintenance as rules grow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0" y="2606040"/>
            <a:ext cx="434340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0" y="2606040"/>
            <a:ext cx="43434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8892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</a:rPr>
              <a:t>Our Solution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709160" y="33375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Fine-tune DistilBERT on tabular transaction data by converting each row into natural language — letting the model learn fraud patterns from contextual feature interactions.</a:t>
            </a:r>
            <a:endParaRPr lang="en-US" sz="12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434340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" y="8686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A6A8A"/>
                </a:solidFill>
              </a:rPr>
              <a:t>synthetic_fraud_dataset.csv  ·  10,000 transactions  ·  0 missing values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207008"/>
            <a:ext cx="548640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07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207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207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572768"/>
            <a:ext cx="5486400" cy="384048"/>
          </a:xfrm>
          <a:prstGeom prst="rect">
            <a:avLst/>
          </a:prstGeom>
          <a:solidFill>
            <a:srgbClr val="EBF0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719072"/>
            <a:ext cx="91440" cy="9144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</a:rPr>
              <a:t>amount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5727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Float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572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55"/>
                </a:solidFill>
              </a:rPr>
              <a:t>Transaction amount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975104"/>
            <a:ext cx="5486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121408"/>
            <a:ext cx="91440" cy="9144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751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</a:rPr>
              <a:t>transaction_type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19751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String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19751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55"/>
                </a:solidFill>
              </a:rPr>
              <a:t>ATM / QR / Online / POS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377440"/>
            <a:ext cx="5486400" cy="384048"/>
          </a:xfrm>
          <a:prstGeom prst="rect">
            <a:avLst/>
          </a:prstGeom>
          <a:solidFill>
            <a:srgbClr val="EBF0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2523744"/>
            <a:ext cx="91440" cy="9144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377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</a:rPr>
              <a:t>merchant_category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48840" y="2377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String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55"/>
                </a:solidFill>
              </a:rPr>
              <a:t>Travel / Food / Clothing…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779776"/>
            <a:ext cx="5486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2926080"/>
            <a:ext cx="91440" cy="9144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7797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</a:rPr>
              <a:t>country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27797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String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27797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55"/>
                </a:solidFill>
              </a:rPr>
              <a:t>TR / US / FR / DE / UK / 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182112"/>
            <a:ext cx="5486400" cy="384048"/>
          </a:xfrm>
          <a:prstGeom prst="rect">
            <a:avLst/>
          </a:prstGeom>
          <a:solidFill>
            <a:srgbClr val="EBF0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3328416"/>
            <a:ext cx="91440" cy="9144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182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</a:rPr>
              <a:t>hour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48840" y="31821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Integer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31821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55"/>
                </a:solidFill>
              </a:rPr>
              <a:t>Hour of day (0–23)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584448"/>
            <a:ext cx="5486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" y="3730752"/>
            <a:ext cx="91440" cy="9144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584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</a:rPr>
              <a:t>device_risk_score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48840" y="35844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Float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0" y="3584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55"/>
                </a:solidFill>
              </a:rPr>
              <a:t>Device risk (0.0–1.0)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986784"/>
            <a:ext cx="5486400" cy="384048"/>
          </a:xfrm>
          <a:prstGeom prst="rect">
            <a:avLst/>
          </a:prstGeom>
          <a:solidFill>
            <a:srgbClr val="EBF0FF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608" y="4133088"/>
            <a:ext cx="91440" cy="91440"/>
          </a:xfrm>
          <a:prstGeom prst="ellipse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39867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</a:rPr>
              <a:t>ip_risk_score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48840" y="39867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A"/>
                </a:solidFill>
              </a:rPr>
              <a:t>Float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0" y="3986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A55"/>
                </a:solidFill>
              </a:rPr>
              <a:t>IP risk  (0.0–1.0)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0" y="1207008"/>
            <a:ext cx="2971800" cy="1828800"/>
          </a:xfrm>
          <a:prstGeom prst="rect">
            <a:avLst/>
          </a:prstGeom>
          <a:solidFill>
            <a:srgbClr val="0F2044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8932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Distribution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80760" y="1691640"/>
            <a:ext cx="2651760" cy="411480"/>
          </a:xfrm>
          <a:prstGeom prst="rect">
            <a:avLst/>
          </a:prstGeom>
          <a:solidFill>
            <a:srgbClr val="1E2D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1691640"/>
            <a:ext cx="2519172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</a:rPr>
              <a:t>Legit 95%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080760" y="2212848"/>
            <a:ext cx="2651760" cy="411480"/>
          </a:xfrm>
          <a:prstGeom prst="rect">
            <a:avLst/>
          </a:prstGeom>
          <a:solidFill>
            <a:srgbClr val="1E2D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0760" y="2212848"/>
            <a:ext cx="132588" cy="411480"/>
          </a:xfrm>
          <a:prstGeom prst="rect">
            <a:avLst/>
          </a:prstGeom>
          <a:solidFill>
            <a:srgbClr val="E84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2212848"/>
            <a:ext cx="2468880" cy="411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Fraud  5%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943600" y="3200400"/>
            <a:ext cx="1417320" cy="713232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943600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5943600" y="36301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Fraud records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52360" y="3200400"/>
            <a:ext cx="1417320" cy="713232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452360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9,500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452360" y="36301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Legit records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43600" y="4023360"/>
            <a:ext cx="1417320" cy="713232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943600" y="4069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5943600" y="44531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Countries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52360" y="4023360"/>
            <a:ext cx="1417320" cy="713232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452360" y="4069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7452360" y="44531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Categories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 Insights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60520" cy="178308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4160520" cy="54864"/>
          </a:xfrm>
          <a:prstGeom prst="rect">
            <a:avLst/>
          </a:prstGeom>
          <a:solidFill>
            <a:srgbClr val="E8454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Country: Nigeria (NG)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" y="16642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50876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fraud rate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93192" y="22128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All 100 NG transactions are fraudulent — the strongest single predictor in the dataset.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005840"/>
            <a:ext cx="4160520" cy="178308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0584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1887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Time: 0–4 AM Window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28032" y="16642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594360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fraud rate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28032" y="22128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All 178 late-night transactions are fraudulent. Hour of day is highly discriminative.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28600" y="2971800"/>
            <a:ext cx="4160520" cy="178308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28600" y="2971800"/>
            <a:ext cx="41605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546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3136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Device Risk Score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93192" y="36301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5.8×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150876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higher in fraud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93192" y="4178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Mean 0.858 (fraud) vs 0.148 (legit). Strongest continuous feature by margin.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663440" y="2971800"/>
            <a:ext cx="4160520" cy="178308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663440" y="2971800"/>
            <a:ext cx="41605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15468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49240" y="3136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Transaction Amount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828032" y="36301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594360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higher median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828032" y="4178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</a:rPr>
              <a:t>Median fraud: ₹1,220 vs ₹100 legit. High std-dev means amount alone is insufficient.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BERT Approach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" y="960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</a:rPr>
              <a:t>Feature Serialisation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347472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CSV Row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E"/>
                </a:solidFill>
              </a:rPr>
              <a:t>amount, type, category,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BBE"/>
                </a:solidFill>
              </a:rPr>
              <a:t>country, hour, device_risk, ip_risk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938528"/>
            <a:ext cx="5486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2057400"/>
            <a:ext cx="347472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0574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row_to_text()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0574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E"/>
                </a:solidFill>
              </a:rPr>
              <a:t>Python serialisation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BBE"/>
                </a:solidFill>
              </a:rPr>
              <a:t>function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0" y="2624328"/>
            <a:ext cx="5486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743200"/>
            <a:ext cx="3474720" cy="566928"/>
          </a:xfrm>
          <a:prstGeom prst="rect">
            <a:avLst/>
          </a:prstGeom>
          <a:solidFill>
            <a:srgbClr val="131B2E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7432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Text String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7432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E"/>
                </a:solidFill>
              </a:rPr>
              <a:t>"amount: 4922 | type: atm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BBE"/>
                </a:solidFill>
              </a:rPr>
              <a:t>| hour: 12 (afternoon) | …"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0" y="3310128"/>
            <a:ext cx="5486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429000"/>
            <a:ext cx="347472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429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DistilBERT Tokens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4290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E"/>
                </a:solidFill>
              </a:rPr>
              <a:t>[CLS] amount 4922 | 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BBE"/>
                </a:solidFill>
              </a:rPr>
              <a:t>atm | hour 12 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0" y="3995928"/>
            <a:ext cx="5486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4114800"/>
            <a:ext cx="3474720" cy="566928"/>
          </a:xfrm>
          <a:prstGeom prst="rect">
            <a:avLst/>
          </a:prstGeom>
          <a:solidFill>
            <a:srgbClr val="E84545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41148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Fraud Probability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1148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E"/>
                </a:solidFill>
              </a:rPr>
              <a:t>0.0 → Legit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BBE"/>
                </a:solidFill>
              </a:rPr>
              <a:t>1.0 → Fraud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0" y="960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</a:rPr>
              <a:t>DistilBERT Architecture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97680" y="1371600"/>
            <a:ext cx="4480560" cy="475488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97680" y="137160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Text (96 tokens)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1847088"/>
            <a:ext cx="5486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1965960"/>
            <a:ext cx="448056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97680" y="196596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Token + Position Embeddings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2441448"/>
            <a:ext cx="5486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2560320"/>
            <a:ext cx="448056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97680" y="25603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Transformer Layer × 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3035808"/>
            <a:ext cx="5486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3154680"/>
            <a:ext cx="448056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297680" y="315468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12 Self-Attention Heads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3630168"/>
            <a:ext cx="5486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3749040"/>
            <a:ext cx="4480560" cy="475488"/>
          </a:xfrm>
          <a:prstGeom prst="rect">
            <a:avLst/>
          </a:prstGeom>
          <a:solidFill>
            <a:srgbClr val="131B2E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297680" y="37490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[CLS] Token Output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92240" y="4224528"/>
            <a:ext cx="54864" cy="118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97680" y="4343400"/>
            <a:ext cx="4480560" cy="475488"/>
          </a:xfrm>
          <a:prstGeom prst="rect">
            <a:avLst/>
          </a:prstGeom>
          <a:solidFill>
            <a:srgbClr val="E84545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297680" y="434340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Linear Classifier (2 classes)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297680" y="4709160"/>
            <a:ext cx="10515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297680" y="4709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</a:rPr>
              <a:t>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9768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BE"/>
                </a:solidFill>
              </a:rPr>
              <a:t>Epochs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40680" y="4709160"/>
            <a:ext cx="10515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40680" y="4709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</a:rPr>
              <a:t>32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4068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BE"/>
                </a:solidFill>
              </a:rPr>
              <a:t>Batch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583680" y="4709160"/>
            <a:ext cx="10515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583680" y="4709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</a:rPr>
              <a:t>2e-5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58368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BE"/>
                </a:solidFill>
              </a:rPr>
              <a:t>LR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726680" y="4709160"/>
            <a:ext cx="105156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26680" y="4709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</a:rPr>
              <a:t>80/20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72668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BE"/>
                </a:solidFill>
              </a:rPr>
              <a:t>Split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361188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789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1005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</a:rPr>
              <a:t>1  Data Layer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66420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" y="162763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data.csv (10,000 rows)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32257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7512" y="22860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Pandas preprocessing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98094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7512" y="294436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row_to_text() serialisation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63931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7512" y="360273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Stratified 80/20 split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2971800" y="2606040"/>
            <a:ext cx="201168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3172968" y="1005840"/>
            <a:ext cx="2743200" cy="361188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3172968" y="1005840"/>
            <a:ext cx="2743200" cy="502920"/>
          </a:xfrm>
          <a:prstGeom prst="rect">
            <a:avLst/>
          </a:prstGeom>
          <a:solidFill>
            <a:srgbClr val="E8454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1078992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703320" y="1005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</a:rPr>
              <a:t>2  Model Layer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664208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611880" y="162763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DistilBERT tokeniser</a:t>
            </a:r>
            <a:endParaRPr lang="en-US" sz="11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322576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611880" y="22860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6-layer transformer</a:t>
            </a:r>
            <a:endParaRPr lang="en-US" sz="11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980944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611880" y="294436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AdamW + warmup scheduler</a:t>
            </a:r>
            <a:endParaRPr lang="en-US" sz="11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639312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611880" y="360273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Checkpoint saving per epoch</a:t>
            </a:r>
            <a:endParaRPr lang="en-US" sz="1150" dirty="0"/>
          </a:p>
        </p:txBody>
      </p:sp>
      <p:sp>
        <p:nvSpPr>
          <p:cNvPr id="29" name="Shape 17"/>
          <p:cNvSpPr/>
          <p:nvPr/>
        </p:nvSpPr>
        <p:spPr>
          <a:xfrm>
            <a:off x="5916168" y="2606040"/>
            <a:ext cx="201168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18"/>
          <p:cNvSpPr/>
          <p:nvPr/>
        </p:nvSpPr>
        <p:spPr>
          <a:xfrm>
            <a:off x="6117336" y="1005840"/>
            <a:ext cx="2743200" cy="361188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19"/>
          <p:cNvSpPr/>
          <p:nvPr/>
        </p:nvSpPr>
        <p:spPr>
          <a:xfrm>
            <a:off x="6117336" y="1005840"/>
            <a:ext cx="274320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1078992"/>
            <a:ext cx="320040" cy="32004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647688" y="1005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</a:rPr>
              <a:t>3  App Layer</a:t>
            </a:r>
            <a:endParaRPr lang="en-US" sz="13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664208"/>
            <a:ext cx="201168" cy="20116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556248" y="162763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Flask REST API</a:t>
            </a:r>
            <a:endParaRPr lang="en-US" sz="115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2322576"/>
            <a:ext cx="201168" cy="201168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556248" y="22860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Auto model load on startup</a:t>
            </a:r>
            <a:endParaRPr lang="en-US" sz="115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2980944"/>
            <a:ext cx="201168" cy="20116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556248" y="294436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Real-time predictions</a:t>
            </a:r>
            <a:endParaRPr lang="en-US" sz="115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639312"/>
            <a:ext cx="201168" cy="201168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556248" y="3602736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</a:rPr>
              <a:t>Browser UI + history</a:t>
            </a:r>
            <a:endParaRPr lang="en-US" sz="1150" dirty="0"/>
          </a:p>
        </p:txBody>
      </p:sp>
      <p:sp>
        <p:nvSpPr>
          <p:cNvPr id="42" name="Shape 25"/>
          <p:cNvSpPr/>
          <p:nvPr/>
        </p:nvSpPr>
        <p:spPr>
          <a:xfrm>
            <a:off x="228600" y="4736592"/>
            <a:ext cx="8659368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26"/>
          <p:cNvSpPr/>
          <p:nvPr/>
        </p:nvSpPr>
        <p:spPr>
          <a:xfrm>
            <a:off x="228600" y="4736592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27"/>
          <p:cNvSpPr/>
          <p:nvPr/>
        </p:nvSpPr>
        <p:spPr>
          <a:xfrm>
            <a:off x="365760" y="4736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Model Persistence: </a:t>
            </a:r>
            <a:endParaRPr lang="en-US" sz="1100" dirty="0"/>
          </a:p>
        </p:txBody>
      </p:sp>
      <p:sp>
        <p:nvSpPr>
          <p:cNvPr id="45" name="Text 28"/>
          <p:cNvSpPr/>
          <p:nvPr/>
        </p:nvSpPr>
        <p:spPr>
          <a:xfrm>
            <a:off x="1737360" y="4736592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</a:rPr>
              <a:t>best_model/  ·  final_model/  ·  checkpoint_epoch_XX.pt  ·  training_meta.json  →  auto-loaded by app.py on every startup</a:t>
            </a:r>
            <a:endParaRPr lang="en-US" sz="1000" dirty="0"/>
          </a:p>
        </p:txBody>
      </p:sp>
      <p:sp>
        <p:nvSpPr>
          <p:cNvPr id="46" name="Text 29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9601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108960" cy="603504"/>
          </a:xfrm>
          <a:prstGeom prst="rect">
            <a:avLst/>
          </a:prstGeom>
          <a:solidFill>
            <a:srgbClr val="0F2044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960120"/>
            <a:ext cx="64008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9966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~96.2%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943600" y="13624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Best Val Accuracy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655064"/>
            <a:ext cx="3108960" cy="603504"/>
          </a:xfrm>
          <a:prstGeom prst="rect">
            <a:avLst/>
          </a:prstGeom>
          <a:solidFill>
            <a:srgbClr val="0F2044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655064"/>
            <a:ext cx="64008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6916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943600" y="20574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F1 Score (Epoch 5)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350008"/>
            <a:ext cx="3108960" cy="603504"/>
          </a:xfrm>
          <a:prstGeom prst="rect">
            <a:avLst/>
          </a:prstGeom>
          <a:solidFill>
            <a:srgbClr val="0F2044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350008"/>
            <a:ext cx="64008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3865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~96.5%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943600" y="27523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Train Accuracy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044952"/>
            <a:ext cx="3108960" cy="603504"/>
          </a:xfrm>
          <a:prstGeom prst="rect">
            <a:avLst/>
          </a:prstGeom>
          <a:solidFill>
            <a:srgbClr val="0F2044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044952"/>
            <a:ext cx="64008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30815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/ 5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943600" y="34472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Class Imbalance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60720" y="3749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</a:rPr>
              <a:t>Confusion Matrix (Val Set)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760720" y="4041648"/>
            <a:ext cx="150876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404164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TN ~1805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33488" y="4041648"/>
            <a:ext cx="150876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33488" y="404164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FP ~95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760720" y="4480560"/>
            <a:ext cx="150876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0" y="44805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FN ~100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333488" y="4480560"/>
            <a:ext cx="150876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33488" y="448056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TP ~400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5120640" cy="3931920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512064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789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FraudSense AI  ·  BERT Engine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New Transaction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920240"/>
            <a:ext cx="15087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904" y="1920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BBE"/>
                </a:solidFill>
              </a:rPr>
              <a:t>Amount (₹)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74904" y="2121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4922.59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965960" y="1920240"/>
            <a:ext cx="15087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20824" y="1920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BBE"/>
                </a:solidFill>
              </a:rPr>
              <a:t>Transaction Type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020824" y="2121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11880" y="1920240"/>
            <a:ext cx="15087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66744" y="1920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BBE"/>
                </a:solidFill>
              </a:rPr>
              <a:t>Country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66744" y="2121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2514600"/>
            <a:ext cx="15087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4904" y="2514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BBE"/>
                </a:solidFill>
              </a:rPr>
              <a:t>Hour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74904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965960" y="2514600"/>
            <a:ext cx="15087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020824" y="2514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BBE"/>
                </a:solidFill>
              </a:rPr>
              <a:t>Device Risk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2020824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0.99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11880" y="2514600"/>
            <a:ext cx="150876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66744" y="2514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BBE"/>
                </a:solidFill>
              </a:rPr>
              <a:t>IP Risk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666744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0.95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0040" y="3154680"/>
            <a:ext cx="1828800" cy="365760"/>
          </a:xfrm>
          <a:prstGeom prst="rect">
            <a:avLst/>
          </a:prstGeom>
          <a:solidFill>
            <a:srgbClr val="E84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🔍  Analyze Transaction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0040" y="3621024"/>
            <a:ext cx="4846320" cy="1188720"/>
          </a:xfrm>
          <a:prstGeom prst="rect">
            <a:avLst/>
          </a:prstGeom>
          <a:solidFill>
            <a:srgbClr val="1A0A0A"/>
          </a:solidFill>
          <a:ln w="25400">
            <a:solidFill>
              <a:srgbClr val="E8454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675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545"/>
                </a:solidFill>
              </a:rPr>
              <a:t>⚠  FRAUD DETECTED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657600" y="3703320"/>
            <a:ext cx="1371600" cy="274320"/>
          </a:xfrm>
          <a:prstGeom prst="rect">
            <a:avLst/>
          </a:prstGeom>
          <a:solidFill>
            <a:srgbClr val="E84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4114800"/>
            <a:ext cx="4389120" cy="109728"/>
          </a:xfrm>
          <a:prstGeom prst="rect">
            <a:avLst/>
          </a:prstGeom>
          <a:solidFill>
            <a:srgbClr val="131B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4114800"/>
            <a:ext cx="4023360" cy="109728"/>
          </a:xfrm>
          <a:prstGeom prst="rect">
            <a:avLst/>
          </a:prstGeom>
          <a:solidFill>
            <a:srgbClr val="E8454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2519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E"/>
                </a:solidFill>
              </a:rPr>
              <a:t>Confidence: 93%   ·   Fraud Probability: 93%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4453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High device risk (0.99)  ·  High IP risk (0.95)  ·  Suspicious hour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577840" y="1005840"/>
            <a:ext cx="3337560" cy="877824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1216152"/>
            <a:ext cx="320040" cy="32004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6080760" y="1097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 Model Loading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080760" y="1444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Model loads from disk on every startup — no retraining needed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5577840" y="2011680"/>
            <a:ext cx="3337560" cy="877824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2221992"/>
            <a:ext cx="320040" cy="32004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080760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Session Analytics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6080760" y="24505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Live fraud / legit counters, average confidence, full history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5577840" y="3017520"/>
            <a:ext cx="3337560" cy="877824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3227832"/>
            <a:ext cx="320040" cy="32004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080760" y="31089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 API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6080760" y="34564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POST /api/predict accepts JSON, returns structured result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5577840" y="4023360"/>
            <a:ext cx="3337560" cy="877824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4233672"/>
            <a:ext cx="320040" cy="32004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6080760" y="4114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Risk Levels</a:t>
            </a:r>
            <a:endParaRPr lang="en-US" sz="1200" dirty="0"/>
          </a:p>
        </p:txBody>
      </p:sp>
      <p:sp>
        <p:nvSpPr>
          <p:cNvPr id="52" name="Text 45"/>
          <p:cNvSpPr/>
          <p:nvPr/>
        </p:nvSpPr>
        <p:spPr>
          <a:xfrm>
            <a:off x="6080760" y="44622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E"/>
                </a:solidFill>
              </a:rPr>
              <a:t>LOW / MEDIUM / HIGH / CRITICAL with explanatory flags</a:t>
            </a:r>
            <a:endParaRPr lang="en-US" sz="1000" dirty="0"/>
          </a:p>
        </p:txBody>
      </p:sp>
      <p:sp>
        <p:nvSpPr>
          <p:cNvPr id="53" name="Text 4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Analysis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96012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960120"/>
          <a:ext cx="43434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228600" y="3383280"/>
          <a:ext cx="50292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3"/>
          <p:cNvGraphicFramePr/>
          <p:nvPr/>
        </p:nvGraphicFramePr>
        <p:xfrm>
          <a:off x="5394960" y="3383280"/>
          <a:ext cx="352044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Text 2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719072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704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1188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Transaction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162763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E"/>
                </a:solidFill>
              </a:rPr>
              <a:t>Replace synthetic data with anonymised production data for genuine fraud pattern learning.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72968" y="1005840"/>
            <a:ext cx="2743200" cy="1719072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2968" y="10058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704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9896" y="1188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Imbalance Handling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10128" y="162763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E"/>
                </a:solidFill>
              </a:rPr>
              <a:t>Apply SMOTE oversampling or class-weighted loss to boost fraud recall from ~80% toward 95%+.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17336" y="1005840"/>
            <a:ext cx="2743200" cy="1719072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17336" y="1005840"/>
            <a:ext cx="2743200" cy="54864"/>
          </a:xfrm>
          <a:prstGeom prst="rect">
            <a:avLst/>
          </a:prstGeom>
          <a:solidFill>
            <a:srgbClr val="E8454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17043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84264" y="1188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Benchmarking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54496" y="162763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E"/>
                </a:solidFill>
              </a:rPr>
              <a:t>Compare DistilBERT vs XGBoost, LightGBM, and TabNet on identical train/test splits.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28600" y="2926080"/>
            <a:ext cx="2743200" cy="1719072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28600" y="292608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09067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5528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 Deployment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65760" y="354787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E"/>
                </a:solidFill>
              </a:rPr>
              <a:t>Docker + GPU on AWS/GCP for high-throughput production scoring at thousands of TPS.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172968" y="2926080"/>
            <a:ext cx="2743200" cy="1719072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72968" y="292608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09067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39896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Continual Learning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10128" y="354787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E"/>
                </a:solidFill>
              </a:rPr>
              <a:t>Automated retraining pipeline ingesting new labelled transactions monthly.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17336" y="2926080"/>
            <a:ext cx="2743200" cy="1719072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17336" y="29260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09067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84264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Additional Features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54496" y="354787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E"/>
                </a:solidFill>
              </a:rPr>
              <a:t>Transaction velocity, merchant reputation, geo-distance, device fingerprinting.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943600" y="45720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3200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60120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7512" y="914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DistilBERT achieves ~96% accuracy on synthetic fraud data using natural-language feature serialisation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18488"/>
            <a:ext cx="256032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7512" y="15727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Device + IP risk scores are the strongest predictors (5.8× higher in fraud transactions)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76856"/>
            <a:ext cx="256032" cy="2560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67512" y="22311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Country (NG) and late-night hours (0–4 AM) are deterministic fraud signals in this dataset</a:t>
            </a:r>
            <a:endParaRPr lang="en-US" sz="1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935224"/>
            <a:ext cx="256032" cy="2560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67512" y="2889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Trained model auto-saves and auto-loads — zero manual intervention for production runs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593592"/>
            <a:ext cx="256032" cy="25603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67512" y="35478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</a:rPr>
              <a:t>Full Flask web app with REST API, real-time predictions, and session analytics</a:t>
            </a:r>
            <a:endParaRPr lang="en-US" sz="1200" dirty="0"/>
          </a:p>
        </p:txBody>
      </p:sp>
      <p:sp>
        <p:nvSpPr>
          <p:cNvPr id="15" name="Shape 7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228600" y="44988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B9BBE"/>
                </a:solidFill>
              </a:rPr>
              <a:t>FraudSense AI  ·  ABAI1010L  ·  Dr. Shakshi Sharma  ·  July–Dec 2025  ·  School of Artificial Intelligence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5760720" y="3383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18" name="Text 10"/>
          <p:cNvSpPr/>
          <p:nvPr/>
        </p:nvSpPr>
        <p:spPr>
          <a:xfrm>
            <a:off x="576072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BBE"/>
                </a:solidFill>
              </a:rPr>
              <a:t>Questions &amp; Discussion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BBE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978</Words>
  <Application>Microsoft Office PowerPoint</Application>
  <PresentationFormat>On-screen Show (16:9)</PresentationFormat>
  <Paragraphs>238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FraudSense AI — BERT Fraud Detection</dc:title>
  <dc:subject>PptxGenJS Presentation</dc:subject>
  <dc:creator>FraudSense AI</dc:creator>
  <cp:lastModifiedBy>arundhati bhattacharrya</cp:lastModifiedBy>
  <cp:revision>3</cp:revision>
  <dcterms:created xsi:type="dcterms:W3CDTF">2026-04-11T03:07:45Z</dcterms:created>
  <dcterms:modified xsi:type="dcterms:W3CDTF">2026-04-14T07:24:51Z</dcterms:modified>
</cp:coreProperties>
</file>